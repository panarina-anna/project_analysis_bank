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80" r:id="rId7"/>
    <p:sldId id="282" r:id="rId8"/>
    <p:sldId id="281" r:id="rId9"/>
    <p:sldId id="283" r:id="rId10"/>
    <p:sldId id="285" r:id="rId11"/>
    <p:sldId id="284" r:id="rId12"/>
    <p:sldId id="286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2" autoAdjust="0"/>
    <p:restoredTop sz="94646" autoAdjust="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4134" y="1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144DDA53-17BB-4810-91A8-94FE944ADC38}" type="datetimeFigureOut">
              <a:rPr lang="ru-RU" smtClean="0"/>
              <a:t>28.03.2026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6D8BCF56-022D-4E84-9600-36794E4DE26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AF08D30-F807-4561-A81E-6E077448AA00}" type="datetimeFigureOut">
              <a:rPr lang="ru-RU" smtClean="0"/>
              <a:t>28.03.2026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D82C05A-7A07-4286-AA18-B883C0AF9A3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052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885A-4065-2483-4C4E-0E7EC3A2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A73C6D7-DEDD-9CFC-8671-B149BD719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DD163E-A843-9B3E-87A7-A38376BA3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C40FD5-6454-9933-7985-38D2FE4AD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7204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9B071-650B-F7AF-EDCF-9BFF4A78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DBB86DA-E8E4-FAC3-CF12-F51D18C27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FA8739F-766F-B4CB-52BA-F2FF5BA93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E9CFBF-B90B-59D7-6215-1F4D55D15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3109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9F5DF-0E74-69BB-7B0B-16ED4041B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B99063-8C07-D399-A889-8F65A60C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2234C7A-5CF1-4C9B-73EF-D1BED66E1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2CF489-EF0E-F2C5-797D-BEC856555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7786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60CA-DD6C-488C-9BA2-661AE421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75446C1-0330-3F26-7EE1-982052DDE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B2CFAF-19E5-E62B-C941-14D7E3510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167E3F-6E59-4445-FE7F-EFB5D97D0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5611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B3B8-343F-3962-9F8B-2CFB06806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D1CA51-9734-056C-7D31-4D301B365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561047-88B3-5AA8-C8CB-2B3A48E93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FBE2FF-1719-DA8E-AAD8-155BAFB44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6229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5D1B9-22E5-FA93-A785-6E56A624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BF459AA-A64B-DD90-8AB3-E523E2266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272E037-6D0F-D98C-B544-46D749BC1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E50F5E-EE8F-9889-CB44-EBC08FA4D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4255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B4AD3-907A-3744-A9F1-961B09E0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5AD1114-E64F-FB77-C98C-85603304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AA467A-B381-FD87-FF4D-E2E437980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4FBC86-C416-DBDE-49DD-7EDD1456D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4593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rtlCol="0" anchor="ctr">
            <a:noAutofit/>
          </a:bodyPr>
          <a:lstStyle>
            <a:lvl1pPr algn="ctr">
              <a:defRPr lang="ru-RU" sz="7200"/>
            </a:lvl1pPr>
          </a:lstStyle>
          <a:p>
            <a:pPr rtl="0"/>
            <a:r>
              <a:rPr lang="ru-RU" b="1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Графический объект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Графический объект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40" name="Заголовок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rtlCol="0" anchor="ctr"/>
          <a:lstStyle>
            <a:lvl1pPr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 rtlCol="0"/>
          <a:lstStyle>
            <a:lvl1pPr>
              <a:lnSpc>
                <a:spcPct val="150000"/>
              </a:lnSpc>
              <a:defRPr lang="ru-RU" sz="1800"/>
            </a:lvl1pPr>
            <a:lvl2pPr>
              <a:lnSpc>
                <a:spcPct val="150000"/>
              </a:lnSpc>
              <a:defRPr lang="ru-RU" sz="1800"/>
            </a:lvl2pPr>
            <a:lvl3pPr>
              <a:lnSpc>
                <a:spcPct val="150000"/>
              </a:lnSpc>
              <a:defRPr lang="ru-RU" sz="1600"/>
            </a:lvl3pPr>
            <a:lvl4pPr>
              <a:lnSpc>
                <a:spcPct val="150000"/>
              </a:lnSpc>
              <a:defRPr lang="ru-RU" sz="1400"/>
            </a:lvl4pPr>
            <a:lvl5pPr>
              <a:lnSpc>
                <a:spcPct val="150000"/>
              </a:lnSpc>
              <a:defRPr lang="ru-RU" sz="14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Дата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BF9ABEAD-3133-420B-8B73-B91D538D4248}" type="datetime1">
              <a:rPr lang="ru-RU" smtClean="0"/>
              <a:pPr/>
              <a:t>28.03.2026</a:t>
            </a:fld>
            <a:endParaRPr lang="ru-RU" dirty="0">
              <a:latin typeface="+mj-lt"/>
            </a:endParaRPr>
          </a:p>
        </p:txBody>
      </p:sp>
      <p:pic>
        <p:nvPicPr>
          <p:cNvPr id="47" name="Графический объект 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Графический объект 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Графический объект 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Номер слайда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 dirty="0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 rtlCol="0"/>
          <a:lstStyle>
            <a:lvl1pPr algn="ctr">
              <a:defRPr lang="ru-RU" sz="60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E8D04CD9-D6D1-4088-B622-37AD9F937AC3}" type="datetime1">
              <a:rPr lang="ru-RU" smtClean="0"/>
              <a:pPr/>
              <a:t>28.03.2026</a:t>
            </a:fld>
            <a:endParaRPr lang="ru-RU" dirty="0">
              <a:latin typeface="+mj-lt"/>
            </a:endParaRP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rtlCol="0" anchor="ctr"/>
          <a:lstStyle>
            <a:lvl1pPr algn="ctr">
              <a:defRPr lang="ru-RU" sz="5400"/>
            </a:lvl1pPr>
          </a:lstStyle>
          <a:p>
            <a:pPr rtl="0"/>
            <a:r>
              <a:rPr lang="ru-RU" b="1" dirty="0"/>
              <a:t>Заголовок слайда</a:t>
            </a:r>
          </a:p>
        </p:txBody>
      </p:sp>
      <p:sp>
        <p:nvSpPr>
          <p:cNvPr id="3" name="Прямоугольник: Скругленные углы 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8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Дата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5CC223CA-11C9-43EE-8000-3F8FBBB84C53}" type="datetime1">
              <a:rPr lang="ru-RU" smtClean="0"/>
              <a:pPr/>
              <a:t>28.03.2026</a:t>
            </a:fld>
            <a:endParaRPr lang="ru-RU" dirty="0">
              <a:latin typeface="+mj-lt"/>
            </a:endParaRPr>
          </a:p>
        </p:txBody>
      </p:sp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Графический объект 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Номер слайда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 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Дата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06CEA2B4-5E96-462A-BC9C-86745451DD26}" type="datetime1">
              <a:rPr lang="ru-RU" smtClean="0"/>
              <a:pPr/>
              <a:t>28.03.2026</a:t>
            </a:fld>
            <a:endParaRPr lang="ru-RU" dirty="0">
              <a:latin typeface="+mj-lt"/>
            </a:endParaRP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rtlCol="0" anchor="ctr">
            <a:noAutofit/>
          </a:bodyPr>
          <a:lstStyle>
            <a:lvl1pPr algn="ctr">
              <a:defRPr lang="ru-RU" sz="60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3" name="Прямоугольник: Скругленные углы 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8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17E8AAA2-3E44-49B5-88D8-13DCE02B80BE}" type="datetime1">
              <a:rPr lang="ru-RU" smtClean="0"/>
              <a:pPr/>
              <a:t>28.03.2026</a:t>
            </a:fld>
            <a:endParaRPr lang="ru-RU" dirty="0">
              <a:latin typeface="+mj-lt"/>
            </a:endParaRPr>
          </a:p>
        </p:txBody>
      </p:sp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 rtlCol="0"/>
          <a:lstStyle>
            <a:lvl1pPr>
              <a:lnSpc>
                <a:spcPts val="1900"/>
              </a:lnSpc>
              <a:defRPr lang="ru-RU" sz="1800"/>
            </a:lvl1pPr>
            <a:lvl2pPr>
              <a:lnSpc>
                <a:spcPts val="1900"/>
              </a:lnSpc>
              <a:defRPr lang="ru-RU" sz="1800"/>
            </a:lvl2pPr>
            <a:lvl3pPr>
              <a:lnSpc>
                <a:spcPts val="1900"/>
              </a:lnSpc>
              <a:defRPr lang="ru-RU" sz="1800"/>
            </a:lvl3pPr>
            <a:lvl4pPr>
              <a:lnSpc>
                <a:spcPts val="1900"/>
              </a:lnSpc>
              <a:defRPr lang="ru-RU" sz="1800"/>
            </a:lvl4pPr>
            <a:lvl5pPr>
              <a:lnSpc>
                <a:spcPts val="1900"/>
              </a:lnSpc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Дата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A850D8F-0CC4-425D-A979-EBE1CDDD15F3}" type="datetime1">
              <a:rPr lang="ru-RU" smtClean="0"/>
              <a:t>28.03.2026</a:t>
            </a:fld>
            <a:endParaRPr lang="ru-RU" dirty="0"/>
          </a:p>
        </p:txBody>
      </p:sp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Графический объект 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Номер слайда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ступ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 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rtlCol="0" anchor="b"/>
          <a:lstStyle>
            <a:lvl1pPr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Графический объект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9AF5A4E2-3BF6-48DC-B37D-10F915567F42}" type="datetime1">
              <a:rPr lang="ru-RU" smtClean="0"/>
              <a:t>28.03.2026</a:t>
            </a:fld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Номер слайда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 rtlCol="0"/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Местозаполнитель таблицы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 rtlCol="0"/>
          <a:lstStyle>
            <a:lvl1pPr>
              <a:defRPr lang="ru-RU" sz="2000"/>
            </a:lvl1pPr>
          </a:lstStyle>
          <a:p>
            <a:pPr lvl="0" rtl="0"/>
            <a:r>
              <a:rPr lang="ru-RU"/>
              <a:t>Щелкните, чтобы добавить таблицу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Дата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49FDB3F-FB5F-4A13-B0E4-2179062ED3EB}" type="datetime1">
              <a:rPr lang="ru-RU" smtClean="0"/>
              <a:t>28.03.2026</a:t>
            </a:fld>
            <a:endParaRPr lang="ru-RU" dirty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 rtlCol="0"/>
          <a:lstStyle>
            <a:lvl1pPr marL="0" indent="0">
              <a:lnSpc>
                <a:spcPts val="1900"/>
              </a:lnSpc>
              <a:buNone/>
              <a:defRPr lang="ru-RU" sz="1800"/>
            </a:lvl1pPr>
            <a:lvl2pPr>
              <a:lnSpc>
                <a:spcPts val="1900"/>
              </a:lnSpc>
              <a:defRPr lang="ru-RU" sz="1800"/>
            </a:lvl2pPr>
            <a:lvl3pPr>
              <a:lnSpc>
                <a:spcPts val="1900"/>
              </a:lnSpc>
              <a:defRPr lang="ru-RU" sz="1800"/>
            </a:lvl3pPr>
            <a:lvl4pPr>
              <a:lnSpc>
                <a:spcPts val="1900"/>
              </a:lnSpc>
              <a:defRPr lang="ru-RU" sz="1800"/>
            </a:lvl4pPr>
            <a:lvl5pPr>
              <a:lnSpc>
                <a:spcPts val="1900"/>
              </a:lnSpc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Дата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3D2EAD99-B809-457B-8FEA-3374F23E7D67}" type="datetime1">
              <a:rPr lang="ru-RU" smtClean="0"/>
              <a:pPr/>
              <a:t>28.03.2026</a:t>
            </a:fld>
            <a:endParaRPr lang="ru-RU" dirty="0">
              <a:latin typeface="+mj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афический объект 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 rtlCol="0"/>
          <a:lstStyle>
            <a:lvl1pPr algn="ctr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4" name="Местозаполнитель таблицы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6" name="Графический объект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Дата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50CC0B67-4873-43C1-A59D-C8B8243567FE}" type="datetime1">
              <a:rPr lang="ru-RU" smtClean="0"/>
              <a:pPr/>
              <a:t>28.03.2026</a:t>
            </a:fld>
            <a:endParaRPr lang="ru-RU" dirty="0">
              <a:latin typeface="+mj-lt"/>
            </a:endParaRPr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Графический объект 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Графический объект 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Номер слайда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!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: Скругленные углы 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6000" dirty="0"/>
            </a:lvl1pPr>
          </a:lstStyle>
          <a:p>
            <a:pPr lvl="0" algn="ctr" rtl="0"/>
            <a:r>
              <a:rPr lang="ru-RU" b="1"/>
              <a:t>Заголовок слайда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rtlCol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lang="ru-RU" sz="1800"/>
            </a:lvl1pPr>
            <a:lvl2pPr>
              <a:lnSpc>
                <a:spcPct val="150000"/>
              </a:lnSpc>
              <a:defRPr lang="ru-RU" sz="2000"/>
            </a:lvl2pPr>
            <a:lvl3pPr>
              <a:lnSpc>
                <a:spcPct val="150000"/>
              </a:lnSpc>
              <a:defRPr lang="ru-RU" sz="1800"/>
            </a:lvl3pPr>
            <a:lvl4pPr>
              <a:lnSpc>
                <a:spcPct val="150000"/>
              </a:lnSpc>
              <a:defRPr lang="ru-RU" sz="1600"/>
            </a:lvl4pPr>
            <a:lvl5pPr>
              <a:lnSpc>
                <a:spcPct val="150000"/>
              </a:lnSpc>
              <a:defRPr lang="ru-RU" sz="1600"/>
            </a:lvl5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Дата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4CD40B58-63FD-4530-B9E0-C9E7ABF65AE2}" type="datetime1">
              <a:rPr lang="ru-RU" smtClean="0"/>
              <a:pPr/>
              <a:t>28.03.2026</a:t>
            </a:fld>
            <a:endParaRPr lang="ru-RU" dirty="0">
              <a:latin typeface="+mj-lt"/>
            </a:endParaRP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афический объект 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 rtlCol="0"/>
          <a:lstStyle>
            <a:lvl1pPr algn="ctr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pic>
        <p:nvPicPr>
          <p:cNvPr id="6" name="Графический объект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Дата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326B3BE8-832C-4B4E-8995-BC0B71FC1D3B}" type="datetime1">
              <a:rPr lang="ru-RU" smtClean="0"/>
              <a:pPr/>
              <a:t>28.03.2026</a:t>
            </a:fld>
            <a:endParaRPr lang="ru-RU" dirty="0">
              <a:latin typeface="+mj-lt"/>
            </a:endParaRPr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Графический объект 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Графический объект 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Номер слайда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F3A33A56-0597-4E10-A0BE-9EF3BBACC210}" type="datetime1">
              <a:rPr lang="ru-RU" smtClean="0"/>
              <a:pPr/>
              <a:t>28.03.2026</a:t>
            </a:fld>
            <a:endParaRPr lang="ru-RU" dirty="0">
              <a:latin typeface="+mj-lt"/>
            </a:endParaRP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b="1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F16097B-19FA-4720-8263-205F92129BE2}" type="datetime1">
              <a:rPr lang="ru-RU" smtClean="0"/>
              <a:t>28.03.2026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94A09A9-5501-47C1-A89A-A340965A2BE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5574" y="1209643"/>
            <a:ext cx="7896498" cy="49680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функционала банковского приложения: повышение удобства использования.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Панарина Анна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+mj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 «Деньги для Вас» провёл A/B-тест для оценки нового улучшенного интерфейса мобильного приложения. Цель — повысить активность и вовлечённость клиентов. В ходе теста пользователи были разделены на две группы: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A (контрольная): использовала приложение со старым интерфейсом.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B (тестовая): использовала приложение с новым интерфейсом.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 длился 2 недели. Задача — оценить успешность теста, построить модель прогнозирования посещаемости и подготовить выводы для руководства.</a:t>
            </a:r>
          </a:p>
          <a:p>
            <a:pPr marL="0" indent="45000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420634-75FC-1021-C59D-6A615E04C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2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ECA0-16DE-1A01-EBE6-09AFB1BB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046A5A-6945-B800-0256-CA62AFB0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+mj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B164BD-158C-80D1-2AF1-0CB0B5F2B6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данных (очистка, обработка пропусков и выбросов).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метрик A/B-теста: конверсия, сессии, события на сессию.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статистических гипотез (например: конверсия выше в группе B).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регрессионной модели для прогноза посещаемости.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дашборда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DataLens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визуализации результатов.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презентации с выводами и рекомендациями.</a:t>
            </a:r>
          </a:p>
          <a:p>
            <a:pPr marL="0" indent="45000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F3E5ED-0245-77F6-50E3-F815B1DC8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3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869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41879-9A39-C084-ECE6-EECD72EF8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B6E4B-8129-1348-15FB-535D9448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результаты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22B553-359C-95D5-C581-EEB3AAA6BE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2692" y="4444181"/>
            <a:ext cx="10907016" cy="1265902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Новый интерфейс практически не повлиял на итоговую конверсию (она увеличилась всего на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.2%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но существенно повысил вовлеченность: пользователи заходят чаще (+2 сессии) и проводят в приложении почти в 2 раза больше времени.</a:t>
            </a: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3466BE-4265-D16F-92D3-603D9604F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4</a:t>
            </a:fld>
            <a:endParaRPr lang="ru-RU" b="1" dirty="0">
              <a:latin typeface="+mj-lt"/>
            </a:endParaRP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00D3070-9F77-5DA7-BCEB-F44AF1D3C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45" y="1693454"/>
            <a:ext cx="10978909" cy="23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8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4D558-160F-7723-122F-796EC7F8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8E4A8-5601-F35A-ACE0-54F565947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Детализация результатов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dirty="0"/>
            </a:br>
            <a:endParaRPr lang="ru-RU" b="1" dirty="0">
              <a:latin typeface="+mj-lt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5381F8-C705-6281-B461-B6F92CCB8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5</a:t>
            </a:fld>
            <a:endParaRPr lang="ru-RU" b="1" dirty="0">
              <a:latin typeface="+mj-lt"/>
            </a:endParaRPr>
          </a:p>
        </p:txBody>
      </p:sp>
      <p:pic>
        <p:nvPicPr>
          <p:cNvPr id="10" name="Рисунок 9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2412C8-A0E1-38D4-0D6D-E37E2FFE4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99923"/>
            <a:ext cx="5288441" cy="3337281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317FDE-A60B-BE2A-1AA2-D75CE7F05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399001"/>
            <a:ext cx="5476137" cy="33908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2749F5-67C3-4C10-24C5-E8AD174F0F62}"/>
              </a:ext>
            </a:extLst>
          </p:cNvPr>
          <p:cNvSpPr txBox="1"/>
          <p:nvPr/>
        </p:nvSpPr>
        <p:spPr>
          <a:xfrm>
            <a:off x="2209800" y="4789854"/>
            <a:ext cx="1386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F576BF-5255-EEBE-6167-5ABF8F1CBF7B}"/>
              </a:ext>
            </a:extLst>
          </p:cNvPr>
          <p:cNvSpPr txBox="1"/>
          <p:nvPr/>
        </p:nvSpPr>
        <p:spPr>
          <a:xfrm>
            <a:off x="8313422" y="4789854"/>
            <a:ext cx="6107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77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C8531-BE77-2112-5070-E2C3ACBC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DB914-BECC-9CFA-721A-6FE59676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Детализация результатов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dirty="0"/>
            </a:br>
            <a:endParaRPr lang="ru-RU" b="1" dirty="0">
              <a:latin typeface="+mj-lt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4D028E-BE54-A638-92C2-FE6273296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6</a:t>
            </a:fld>
            <a:endParaRPr lang="ru-RU" b="1" dirty="0">
              <a:latin typeface="+mj-lt"/>
            </a:endParaRPr>
          </a:p>
        </p:txBody>
      </p:sp>
      <p:pic>
        <p:nvPicPr>
          <p:cNvPr id="8" name="Рисунок 7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742FC0-6559-DA19-7E00-ABA6B41D4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85" y="1527547"/>
            <a:ext cx="5141036" cy="3271569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99E3C7-29FC-E9E0-D96D-E46933033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1527547"/>
            <a:ext cx="5141036" cy="325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14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D2636-430E-A5D4-07CB-D312BB30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DA3C9-91F6-1ACB-19DF-7C1F9573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Прогнозная модель посещаемости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2855E3-6CD4-AC06-77FF-EC509C5810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0" indent="45000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38EF83-F553-1242-50CE-B621A01A6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7</a:t>
            </a:fld>
            <a:endParaRPr lang="ru-RU" b="1" dirty="0">
              <a:latin typeface="+mj-lt"/>
            </a:endParaRPr>
          </a:p>
        </p:txBody>
      </p:sp>
      <p:pic>
        <p:nvPicPr>
          <p:cNvPr id="6" name="Рисунок 5" descr="Изображение выглядит как текст, диаграмма, Графи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C31C5D-51F7-5335-1A4A-D7D7ACAA7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795" y="1516381"/>
            <a:ext cx="6012571" cy="426215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CB248FF-68DD-73DF-052D-3ACDC095E885}"/>
              </a:ext>
            </a:extLst>
          </p:cNvPr>
          <p:cNvSpPr/>
          <p:nvPr/>
        </p:nvSpPr>
        <p:spPr>
          <a:xfrm>
            <a:off x="641350" y="1693454"/>
            <a:ext cx="4517390" cy="3952966"/>
          </a:xfrm>
          <a:prstGeom prst="rect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Чтобы банк мог планировать ресурсы, была построена модель, которая предсказывает, сколько пользователей зайдёт в приложение завтра.</a:t>
            </a:r>
          </a:p>
          <a:p>
            <a:pPr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Сравним две модели. 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оказалась точнее — она ошибается всего на 950 посещений в день (это около 8%), что на четверть лучше, чем у линейной регрессии. Данная модель позволяет с уверенностью 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91.9%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прогнозировать нагрузку. Это помогает технической команде подготовить серверы, а маркетологам — планировать акции на самые «горячие» дни.</a:t>
            </a:r>
          </a:p>
        </p:txBody>
      </p:sp>
    </p:spTree>
    <p:extLst>
      <p:ext uri="{BB962C8B-B14F-4D97-AF65-F5344CB8AC3E}">
        <p14:creationId xmlns:p14="http://schemas.microsoft.com/office/powerpoint/2010/main" val="210492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4E20-2D9D-6D89-2AB4-10725DA4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508E2-B548-48D0-F402-7DEC481D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и рекомендации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2A8B9B-27B5-765D-D3A5-19B053D64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Новый интерфейс статистически значимо увеличил вовлеченность пользователей: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сессий на пользователя выросло на 31.9%.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длительность сессии увеличилась на 93.3% (почти вдвое).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Конверсия осталась 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высоком уровне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%) и статистически не изменилась.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Наибольший прирост транзакционной активности наблюдается среди пользователей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 равной степени.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Рекомендация: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Внедрить новый интерфейс для всех пользователей. Он доказал свою эффективность в увеличении времени взаимодействия с приложением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9E8D30-DDAE-CF25-6874-83BF26847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8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7256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69D74-F597-A705-BF63-81DB2CEE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3FF5E-4762-74F4-5152-A0C6D710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дальнейших исследований: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A61B5E-84F2-4D9A-03B9-72994BE7DF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A/A-тест: Проверить корректность работы системы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сплитования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трафика перед запуском следующих экспериментов.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Глубокий анализ монетизации: Изучить, как возросшая вовлеченность конвертируется в рост среднего чека, количества финансовых продуктов на клиента или обращения в службу поддержки.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новых гипотез: На основе данных о поведении в новом интерфейсе сформулировать и протестировать улучшения для конкретных воронок (например, ускорение процесса перевода или оформления карты).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Долгосрочный эффект: Запланировать повторный анализ ключевых метрик через 1-2 месяца после полного внедрения, чтобы оценить устойчивость эффекта.</a:t>
            </a: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AA1013-6219-17ED-5725-852544B80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9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769708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Calibri"/>
        <a:ea typeface=""/>
        <a:cs typeface="Calibri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81AD4F-527A-4A88-9D9F-EFDB01771B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D1CFE71-3FEB-410F-B4FF-3D986B4B6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239674-1887-41DB-914A-BD2B863063C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492</Words>
  <Application>Microsoft Office PowerPoint</Application>
  <PresentationFormat>Широкоэкранный</PresentationFormat>
  <Paragraphs>51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Century Gothic</vt:lpstr>
      <vt:lpstr>Times New Roman</vt:lpstr>
      <vt:lpstr>Пользовательская</vt:lpstr>
      <vt:lpstr>Оптимизация функционала банковского приложения: повышение удобства использования.  Панарина Анна </vt:lpstr>
      <vt:lpstr>Цель и задачи:</vt:lpstr>
      <vt:lpstr>Основные задачи:</vt:lpstr>
      <vt:lpstr>Ключевые результаты A/B-теста:</vt:lpstr>
      <vt:lpstr>Детализация результатов: </vt:lpstr>
      <vt:lpstr>Детализация результатов: </vt:lpstr>
      <vt:lpstr>Прогнозная модель посещаемости:</vt:lpstr>
      <vt:lpstr>Выводы и рекомендации:</vt:lpstr>
      <vt:lpstr>План дальнейших исследований: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Pt Ev</dc:creator>
  <cp:lastModifiedBy>Анна Панарина</cp:lastModifiedBy>
  <cp:revision>16</cp:revision>
  <dcterms:created xsi:type="dcterms:W3CDTF">2024-01-28T15:41:30Z</dcterms:created>
  <dcterms:modified xsi:type="dcterms:W3CDTF">2026-03-28T20:20:34Z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